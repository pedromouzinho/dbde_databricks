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Bugs</c:v>
                </c:pt>
              </c:strCache>
            </c:strRef>
          </c:tx>
          <c:spPr>
            <a:solidFill>
              <a:srgbClr val="D1005D"/>
            </a:solidFill>
          </c:spPr>
          <c:cat>
            <c:strRef>
              <c:f>Sheet1!$A$2:$A$5</c:f>
              <c:strCache>
                <c:ptCount val="4"/>
                <c:pt idx="0">
                  <c:v>New</c:v>
                </c:pt>
                <c:pt idx="1">
                  <c:v>Active</c:v>
                </c:pt>
                <c:pt idx="2">
                  <c:v>Resolved</c:v>
                </c:pt>
                <c:pt idx="3">
                  <c:v>Closed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12.0</c:v>
                </c:pt>
                <c:pt idx="1">
                  <c:v>8.0</c:v>
                </c:pt>
                <c:pt idx="2">
                  <c:v>5.0</c:v>
                </c:pt>
                <c:pt idx="3">
                  <c:v>30.0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User Stories</c:v>
                </c:pt>
              </c:strCache>
            </c:strRef>
          </c:tx>
          <c:spPr>
            <a:solidFill>
              <a:srgbClr val="2F5EA3"/>
            </a:solidFill>
          </c:spPr>
          <c:cat>
            <c:strRef>
              <c:f>Sheet1!$A$2:$A$5</c:f>
              <c:strCache>
                <c:ptCount val="4"/>
                <c:pt idx="0">
                  <c:v>New</c:v>
                </c:pt>
                <c:pt idx="1">
                  <c:v>Active</c:v>
                </c:pt>
                <c:pt idx="2">
                  <c:v>Resolved</c:v>
                </c:pt>
                <c:pt idx="3">
                  <c:v>Closed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10.0</c:v>
                </c:pt>
                <c:pt idx="1">
                  <c:v>45.0</c:v>
                </c:pt>
                <c:pt idx="2">
                  <c:v>20.0</c:v>
                </c:pt>
                <c:pt idx="3">
                  <c:v>60.0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solidFill>
                    <a:srgbClr val="595959"/>
                  </a:solidFill>
                  <a:latin typeface="Montserra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legend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Apresentação: Sprint Review — Epic 1046350 (RevampFEE MVP2)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Agradecer e abrir para questões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10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2000" cy="36576"/>
          </a:xfrm>
          <a:prstGeom prst="rect">
            <a:avLst/>
          </a:prstGeom>
          <a:solidFill>
            <a:srgbClr val="D10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6800" y="1828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Montserrat"/>
              </a:rPr>
              <a:t>Sprint Review — Epic 1046350 (RevampFEE MVP2)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" y="3291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F2D0E0"/>
                </a:solidFill>
                <a:latin typeface="Montserrat"/>
              </a:rPr>
              <a:t>DBDE AI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5760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888AA"/>
                </a:solidFill>
                <a:latin typeface="Montserrat"/>
              </a:rPr>
              <a:t>12/06/2026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0" y="5760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8888AA"/>
                </a:solidFill>
                <a:latin typeface="Montserrat"/>
              </a:rPr>
              <a:t>DBDE</a:t>
            </a:r>
          </a:p>
        </p:txBody>
      </p:sp>
      <p:pic>
        <p:nvPicPr>
          <p:cNvPr id="8" name="Picture 7" descr="brand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5203" y="457200"/>
            <a:ext cx="65815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36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10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6800" y="13716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1" i="0">
                <a:solidFill>
                  <a:srgbClr val="D1005D"/>
                </a:solidFill>
                <a:latin typeface="Montserrat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0" y="2011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Montserrat"/>
              </a:rPr>
              <a:t>Diagnóstico do Sprint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0" y="3200400"/>
            <a:ext cx="1828800" cy="36576"/>
          </a:xfrm>
          <a:prstGeom prst="rect">
            <a:avLst/>
          </a:prstGeom>
          <a:solidFill>
            <a:srgbClr val="D10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ran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2057" y="6327648"/>
            <a:ext cx="318463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594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Montserrat"/>
              </a:rPr>
              <a:t>Onde estamos hoje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188720"/>
            <a:ext cx="1371600" cy="36576"/>
          </a:xfrm>
          <a:prstGeom prst="rect">
            <a:avLst/>
          </a:prstGeom>
          <a:solidFill>
            <a:srgbClr val="D10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>
              <a:spcBef>
                <a:spcPts val="400"/>
              </a:spcBef>
              <a:spcAft>
                <a:spcPts val="800"/>
              </a:spcAft>
              <a:buSzPct val="100000"/>
              <a:buFont typeface="Arial" panose="020B0604020202020204"/>
              <a:buClr>
                <a:srgbClr val="D1005D"/>
              </a:buClr>
              <a:buChar char="•"/>
              <a:lnSpc>
                <a:spcPct val="120000"/>
              </a:lnSpc>
            </a:pPr>
            <a:r>
              <a:rPr sz="1200" b="0" i="0">
                <a:solidFill>
                  <a:srgbClr val="595959"/>
                </a:solidFill>
                <a:latin typeface="Montserrat"/>
              </a:rPr>
              <a:t>45 user stories ativas na Epic RevampFEE MVP2</a:t>
            </a:r>
          </a:p>
          <a:p>
            <a:pPr marL="457200" indent="-228600">
              <a:spcAft>
                <a:spcPts val="800"/>
              </a:spcAft>
              <a:buSzPct val="100000"/>
              <a:buFont typeface="Arial" panose="020B0604020202020204"/>
              <a:buClr>
                <a:srgbClr val="D1005D"/>
              </a:buClr>
              <a:buChar char="•"/>
              <a:lnSpc>
                <a:spcPct val="120000"/>
              </a:lnSpc>
            </a:pPr>
            <a:r>
              <a:rPr sz="1200" b="0" i="0">
                <a:solidFill>
                  <a:srgbClr val="595959"/>
                </a:solidFill>
                <a:latin typeface="Montserrat"/>
              </a:rPr>
              <a:t>12 bugs críticos por resolver</a:t>
            </a:r>
          </a:p>
          <a:p>
            <a:pPr marL="457200" indent="-228600">
              <a:spcAft>
                <a:spcPts val="800"/>
              </a:spcAft>
              <a:buSzPct val="100000"/>
              <a:buFont typeface="Arial" panose="020B0604020202020204"/>
              <a:buClr>
                <a:srgbClr val="D1005D"/>
              </a:buClr>
              <a:buChar char="•"/>
              <a:lnSpc>
                <a:spcPct val="120000"/>
              </a:lnSpc>
            </a:pPr>
            <a:r>
              <a:rPr sz="1200" b="0" i="0">
                <a:solidFill>
                  <a:srgbClr val="595959"/>
                </a:solidFill>
                <a:latin typeface="Montserrat"/>
              </a:rPr>
              <a:t>3 features em risco de derrapar</a:t>
            </a:r>
          </a:p>
          <a:p>
            <a:pPr marL="457200" indent="-228600">
              <a:spcAft>
                <a:spcPts val="800"/>
              </a:spcAft>
              <a:buSzPct val="100000"/>
              <a:buFont typeface="Arial" panose="020B0604020202020204"/>
              <a:buClr>
                <a:srgbClr val="D1005D"/>
              </a:buClr>
              <a:buChar char="•"/>
              <a:lnSpc>
                <a:spcPct val="120000"/>
              </a:lnSpc>
            </a:pPr>
            <a:r>
              <a:rPr sz="1200" b="0" i="0">
                <a:solidFill>
                  <a:srgbClr val="595959"/>
                </a:solidFill>
                <a:latin typeface="Montserrat"/>
              </a:rPr>
              <a:t>Velocity estável nas últimas 3 sprints</a:t>
            </a:r>
          </a:p>
        </p:txBody>
      </p:sp>
      <p:pic>
        <p:nvPicPr>
          <p:cNvPr id="5" name="Picture 4" descr="bran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2057" y="6327648"/>
            <a:ext cx="318463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594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Montserrat"/>
              </a:rPr>
              <a:t>Indicadores-chave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554480"/>
            <a:ext cx="2537460" cy="3200400"/>
          </a:xfrm>
          <a:prstGeom prst="rect">
            <a:avLst/>
          </a:prstGeom>
          <a:solidFill>
            <a:srgbClr val="F7F7FA"/>
          </a:solidFill>
          <a:ln w="6350">
            <a:solidFill>
              <a:srgbClr val="E8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554480"/>
            <a:ext cx="2537460" cy="54864"/>
          </a:xfrm>
          <a:prstGeom prst="rect">
            <a:avLst/>
          </a:prstGeom>
          <a:solidFill>
            <a:srgbClr val="D10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480" y="2011680"/>
            <a:ext cx="21717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D1005D"/>
                </a:solidFill>
                <a:latin typeface="Montserrat"/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" y="3200400"/>
            <a:ext cx="21717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95959"/>
                </a:solidFill>
                <a:latin typeface="Montserrat"/>
              </a:rPr>
              <a:t>User Stories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" y="3749040"/>
            <a:ext cx="21717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Montserrat"/>
              </a:rPr>
              <a:t>ativas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1380" y="1554480"/>
            <a:ext cx="2537460" cy="3200400"/>
          </a:xfrm>
          <a:prstGeom prst="rect">
            <a:avLst/>
          </a:prstGeom>
          <a:solidFill>
            <a:srgbClr val="F7F7FA"/>
          </a:solidFill>
          <a:ln w="6350">
            <a:solidFill>
              <a:srgbClr val="E8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1380" y="1554480"/>
            <a:ext cx="2537460" cy="54864"/>
          </a:xfrm>
          <a:prstGeom prst="rect">
            <a:avLst/>
          </a:prstGeom>
          <a:solidFill>
            <a:srgbClr val="D10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4260" y="2011680"/>
            <a:ext cx="21717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D1005D"/>
                </a:solidFill>
                <a:latin typeface="Montserrat"/>
              </a:rPr>
              <a:t>82%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4260" y="3200400"/>
            <a:ext cx="21717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95959"/>
                </a:solidFill>
                <a:latin typeface="Montserrat"/>
              </a:rPr>
              <a:t>Cobertura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4260" y="3749040"/>
            <a:ext cx="21717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Montserrat"/>
              </a:rPr>
              <a:t>de testes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160" y="1554480"/>
            <a:ext cx="2537460" cy="3200400"/>
          </a:xfrm>
          <a:prstGeom prst="rect">
            <a:avLst/>
          </a:prstGeom>
          <a:solidFill>
            <a:srgbClr val="F7F7FA"/>
          </a:solidFill>
          <a:ln w="6350">
            <a:solidFill>
              <a:srgbClr val="E8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3160" y="1554480"/>
            <a:ext cx="2537460" cy="54864"/>
          </a:xfrm>
          <a:prstGeom prst="rect">
            <a:avLst/>
          </a:prstGeom>
          <a:solidFill>
            <a:srgbClr val="D10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6040" y="2011680"/>
            <a:ext cx="21717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D1005D"/>
                </a:solidFill>
                <a:latin typeface="Montserrat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6040" y="3200400"/>
            <a:ext cx="21717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95959"/>
                </a:solidFill>
                <a:latin typeface="Montserrat"/>
              </a:rPr>
              <a:t>Bugs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6040" y="3749040"/>
            <a:ext cx="21717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Montserrat"/>
              </a:rPr>
              <a:t>críticos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44940" y="1554480"/>
            <a:ext cx="2537460" cy="3200400"/>
          </a:xfrm>
          <a:prstGeom prst="rect">
            <a:avLst/>
          </a:prstGeom>
          <a:solidFill>
            <a:srgbClr val="F7F7FA"/>
          </a:solidFill>
          <a:ln w="6350">
            <a:solidFill>
              <a:srgbClr val="E8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44940" y="1554480"/>
            <a:ext cx="2537460" cy="54864"/>
          </a:xfrm>
          <a:prstGeom prst="rect">
            <a:avLst/>
          </a:prstGeom>
          <a:solidFill>
            <a:srgbClr val="D10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27820" y="2011680"/>
            <a:ext cx="21717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D1005D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7820" y="3200400"/>
            <a:ext cx="21717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95959"/>
                </a:solidFill>
                <a:latin typeface="Montserrat"/>
              </a:rPr>
              <a:t>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7820" y="3749040"/>
            <a:ext cx="21717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Montserrat"/>
              </a:rPr>
              <a:t>em risco</a:t>
            </a:r>
          </a:p>
        </p:txBody>
      </p:sp>
      <p:pic>
        <p:nvPicPr>
          <p:cNvPr id="23" name="Picture 22" descr="bran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2057" y="6327648"/>
            <a:ext cx="318463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A1A1A"/>
                </a:solidFill>
                <a:latin typeface="Montserrat"/>
              </a:rPr>
              <a:t>Work items por estado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83920" y="1097280"/>
          <a:ext cx="1042416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4" name="Picture 3" descr="bran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2057" y="6327648"/>
            <a:ext cx="318463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A1A1A"/>
                </a:solidFill>
                <a:latin typeface="Montserrat"/>
              </a:rPr>
              <a:t>Azure vs Databricks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51560"/>
            <a:ext cx="5349240" cy="5212080"/>
          </a:xfrm>
          <a:prstGeom prst="rect">
            <a:avLst/>
          </a:prstGeom>
          <a:solidFill>
            <a:srgbClr val="E7EEF5"/>
          </a:solidFill>
          <a:ln w="6350">
            <a:solidFill>
              <a:srgbClr val="E8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33160" y="1051560"/>
            <a:ext cx="5349240" cy="5212080"/>
          </a:xfrm>
          <a:prstGeom prst="rect">
            <a:avLst/>
          </a:prstGeom>
          <a:solidFill>
            <a:srgbClr val="FDF0F4"/>
          </a:solidFill>
          <a:ln w="6350">
            <a:solidFill>
              <a:srgbClr val="E8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1051560"/>
            <a:ext cx="5349240" cy="457200"/>
          </a:xfrm>
          <a:prstGeom prst="rect">
            <a:avLst/>
          </a:prstGeom>
          <a:solidFill>
            <a:srgbClr val="2F5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109728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Montserrat"/>
              </a:rPr>
              <a:t>Antes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3160" y="1051560"/>
            <a:ext cx="5349240" cy="457200"/>
          </a:xfrm>
          <a:prstGeom prst="rect">
            <a:avLst/>
          </a:prstGeom>
          <a:solidFill>
            <a:srgbClr val="D10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6040" y="109728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Montserrat"/>
              </a:rPr>
              <a:t>Agora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760" y="1645920"/>
            <a:ext cx="5074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>
              <a:spcAft>
                <a:spcPts val="800"/>
              </a:spcAft>
              <a:buSzPct val="100000"/>
              <a:buFont typeface="Arial" panose="020B0604020202020204"/>
              <a:buClr>
                <a:srgbClr val="D1005D"/>
              </a:buClr>
              <a:buChar char="•"/>
              <a:lnSpc>
                <a:spcPct val="120000"/>
              </a:lnSpc>
            </a:pPr>
            <a:r>
              <a:rPr sz="1100" b="0" i="0">
                <a:solidFill>
                  <a:srgbClr val="595959"/>
                </a:solidFill>
                <a:latin typeface="Montserrat"/>
              </a:rPr>
              <a:t>Custos elevados</a:t>
            </a:r>
          </a:p>
          <a:p>
            <a:pPr marL="457200" indent="-228600">
              <a:spcAft>
                <a:spcPts val="800"/>
              </a:spcAft>
              <a:buSzPct val="100000"/>
              <a:buFont typeface="Arial" panose="020B0604020202020204"/>
              <a:buClr>
                <a:srgbClr val="D1005D"/>
              </a:buClr>
              <a:buChar char="•"/>
              <a:lnSpc>
                <a:spcPct val="120000"/>
              </a:lnSpc>
            </a:pPr>
            <a:r>
              <a:rPr sz="1100" b="0" i="0">
                <a:solidFill>
                  <a:srgbClr val="595959"/>
                </a:solidFill>
                <a:latin typeface="Montserrat"/>
              </a:rPr>
              <a:t>Múltiplas dependências</a:t>
            </a:r>
          </a:p>
          <a:p>
            <a:pPr marL="457200" indent="-228600">
              <a:spcAft>
                <a:spcPts val="800"/>
              </a:spcAft>
              <a:buSzPct val="100000"/>
              <a:buFont typeface="Arial" panose="020B0604020202020204"/>
              <a:buClr>
                <a:srgbClr val="D1005D"/>
              </a:buClr>
              <a:buChar char="•"/>
              <a:lnSpc>
                <a:spcPct val="120000"/>
              </a:lnSpc>
            </a:pPr>
            <a:r>
              <a:rPr sz="1100" b="0" i="0">
                <a:solidFill>
                  <a:srgbClr val="595959"/>
                </a:solidFill>
                <a:latin typeface="Montserrat"/>
              </a:rPr>
              <a:t>Search partida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320" y="1645920"/>
            <a:ext cx="5074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>
              <a:spcAft>
                <a:spcPts val="800"/>
              </a:spcAft>
              <a:buSzPct val="100000"/>
              <a:buFont typeface="Arial" panose="020B0604020202020204"/>
              <a:buClr>
                <a:srgbClr val="D1005D"/>
              </a:buClr>
              <a:buChar char="•"/>
              <a:lnSpc>
                <a:spcPct val="120000"/>
              </a:lnSpc>
            </a:pPr>
            <a:r>
              <a:rPr sz="1100" b="0" i="0">
                <a:solidFill>
                  <a:srgbClr val="595959"/>
                </a:solidFill>
                <a:latin typeface="Montserrat"/>
              </a:rPr>
              <a:t>Custo reduzido</a:t>
            </a:r>
          </a:p>
          <a:p>
            <a:pPr marL="457200" indent="-228600">
              <a:spcAft>
                <a:spcPts val="800"/>
              </a:spcAft>
              <a:buSzPct val="100000"/>
              <a:buFont typeface="Arial" panose="020B0604020202020204"/>
              <a:buClr>
                <a:srgbClr val="D1005D"/>
              </a:buClr>
              <a:buChar char="•"/>
              <a:lnSpc>
                <a:spcPct val="120000"/>
              </a:lnSpc>
            </a:pPr>
            <a:r>
              <a:rPr sz="1100" b="0" i="0">
                <a:solidFill>
                  <a:srgbClr val="595959"/>
                </a:solidFill>
                <a:latin typeface="Montserrat"/>
              </a:rPr>
              <a:t>Mínimo de dependências</a:t>
            </a:r>
          </a:p>
          <a:p>
            <a:pPr marL="457200" indent="-228600">
              <a:spcAft>
                <a:spcPts val="800"/>
              </a:spcAft>
              <a:buSzPct val="100000"/>
              <a:buFont typeface="Arial" panose="020B0604020202020204"/>
              <a:buClr>
                <a:srgbClr val="D1005D"/>
              </a:buClr>
              <a:buChar char="•"/>
              <a:lnSpc>
                <a:spcPct val="120000"/>
              </a:lnSpc>
            </a:pPr>
            <a:r>
              <a:rPr sz="1100" b="0" i="0">
                <a:solidFill>
                  <a:srgbClr val="595959"/>
                </a:solidFill>
                <a:latin typeface="Montserrat"/>
              </a:rPr>
              <a:t>Pesquisa semântica nativa</a:t>
            </a:r>
          </a:p>
        </p:txBody>
      </p:sp>
      <p:pic>
        <p:nvPicPr>
          <p:cNvPr id="11" name="Picture 10" descr="bran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2057" y="6327648"/>
            <a:ext cx="318463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594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A1A1A"/>
                </a:solidFill>
                <a:latin typeface="Montserrat"/>
              </a:rPr>
              <a:t>Estado das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188720"/>
            <a:ext cx="1371600" cy="36576"/>
          </a:xfrm>
          <a:prstGeom prst="rect">
            <a:avLst/>
          </a:prstGeom>
          <a:solidFill>
            <a:srgbClr val="D10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1554480"/>
          <a:ext cx="10972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4290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Montserrat"/>
                        </a:rPr>
                        <a:t>Feature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Montserrat"/>
                        </a:rPr>
                        <a:t>Estado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Montserrat"/>
                        </a:rPr>
                        <a:t>Owner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595959"/>
                          </a:solidFill>
                          <a:latin typeface="Montserrat"/>
                        </a:rPr>
                        <a:t>Login biométrico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595959"/>
                          </a:solidFill>
                          <a:latin typeface="Montserrat"/>
                        </a:rPr>
                        <a:t>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595959"/>
                          </a:solidFill>
                          <a:latin typeface="Montserrat"/>
                        </a:rPr>
                        <a:t>Bruno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595959"/>
                          </a:solidFill>
                          <a:latin typeface="Montserrat"/>
                        </a:rPr>
                        <a:t>Onboarding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595959"/>
                          </a:solidFill>
                          <a:latin typeface="Montserrat"/>
                        </a:rPr>
                        <a:t>Closed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595959"/>
                          </a:solidFill>
                          <a:latin typeface="Montserrat"/>
                        </a:rPr>
                        <a:t>Aníbal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595959"/>
                          </a:solidFill>
                          <a:latin typeface="Montserrat"/>
                        </a:rPr>
                        <a:t>Pagamentos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595959"/>
                          </a:solidFill>
                          <a:latin typeface="Montserrat"/>
                        </a:rPr>
                        <a:t>At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595959"/>
                          </a:solidFill>
                          <a:latin typeface="Montserrat"/>
                        </a:rPr>
                        <a:t>Maria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bran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2057" y="6327648"/>
            <a:ext cx="318463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21424"/>
            <a:ext cx="12192000" cy="36576"/>
          </a:xfrm>
          <a:prstGeom prst="rect">
            <a:avLst/>
          </a:prstGeom>
          <a:solidFill>
            <a:srgbClr val="D10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0116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D1005D"/>
                </a:solidFill>
                <a:latin typeface="Montserrat"/>
              </a:rPr>
              <a:t>Obrigado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5760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AA"/>
                </a:solidFill>
                <a:latin typeface="Montserrat"/>
              </a:rPr>
              <a:t>12/06/2026</a:t>
            </a:r>
          </a:p>
        </p:txBody>
      </p:sp>
      <p:pic>
        <p:nvPicPr>
          <p:cNvPr id="5" name="Picture 4" descr="brand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5203" y="457200"/>
            <a:ext cx="658158" cy="566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